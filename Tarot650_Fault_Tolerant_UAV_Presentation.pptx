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l_world_rain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3035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28016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AUTONOMOUS AERIAL ROBOTICS PROJECT</a:t>
            </a:r>
          </a:p>
          <a:p>
            <a:pPr>
              <a:spcBef>
                <a:spcPts val="800"/>
              </a:spcBef>
              <a:defRPr sz="2600" b="1">
                <a:solidFill>
                  <a:srgbClr val="F8FAFC"/>
                </a:solidFill>
              </a:defRPr>
            </a:pPr>
            <a:r>
              <a:t>Data Fusion Fault Tolerant Strategy for a Quadrotor UAV</a:t>
            </a:r>
          </a:p>
          <a:p>
            <a:pPr>
              <a:spcBef>
                <a:spcPts val="600"/>
              </a:spcBef>
              <a:defRPr sz="1300">
                <a:solidFill>
                  <a:srgbClr val="3B82F6"/>
                </a:solidFill>
              </a:defRPr>
            </a:pPr>
            <a:r>
              <a:t>Robust Navigation under Sensors &amp; Software Faults Across 3 Simulation Platforms</a:t>
            </a:r>
          </a:p>
          <a:p>
            <a:pPr>
              <a:spcBef>
                <a:spcPts val="1600"/>
              </a:spcBef>
              <a:defRPr sz="1100">
                <a:solidFill>
                  <a:srgbClr val="94A3B8"/>
                </a:solidFill>
              </a:defRPr>
            </a:pPr>
            <a:r>
              <a:t>• Base Paper: Hamadi et al., ISA Transactions 129 (2022), pp. 520–539</a:t>
            </a:r>
            <a:br/>
            <a:r>
              <a:t>• Platform: Tarot 650 Quadrotor UAV (1.70 kg Carbon Frame)</a:t>
            </a:r>
            <a:br/>
            <a:r>
              <a:t>• Key Innovation: Dual EKF + Analytical Dynamic Model + Software Covariance FDI</a:t>
            </a:r>
            <a:br/>
            <a:r>
              <a:t>• Simulation Engines: MuJoCo 3D, Gazebo Robotics World &amp; FlightTwin 3D WebGL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01 /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Introduction: UAV Autonomy &amp; Critical Failure Modes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6B6D4"/>
                </a:solidFill>
              </a:defRPr>
            </a:pPr>
            <a:r>
              <a:t>UAV AUTONOMY &amp;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High Criticality:</a:t>
            </a:r>
            <a:br/>
            <a:r>
              <a:t>  UAVs perform safety-critical missions in urban delivery, surveillance, search &amp; rescue, and industrial inspection.</a:t>
            </a:r>
            <a:br/>
            <a:br/>
            <a:r>
              <a:t>• Underactuated Dynamics:</a:t>
            </a:r>
            <a:br/>
            <a:r>
              <a:t>  Quadrotors control 6 degrees of freedom (DOF) using only 4 motor thrusts. Loss of reliable state estimation leads to immediate uncontrolled crashes.</a:t>
            </a:r>
            <a:br/>
            <a:br/>
            <a:r>
              <a:t>• Operating Environment:</a:t>
            </a:r>
            <a:br/>
            <a:r>
              <a:t>  Drones operate under severe atmospheric turbulence, wind gusts, and precipitation.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29184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087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6B6D4"/>
                </a:solidFill>
              </a:defRPr>
            </a:pPr>
            <a:r>
              <a:t>STANDARD AVIONICS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Primary Sensors:</a:t>
            </a:r>
            <a:br/>
            <a:r>
              <a:t>  - GPS: Horizontal global positioning (X, Y)</a:t>
            </a:r>
            <a:br/>
            <a:r>
              <a:t>  - Lidar / Barometer: Vertical altitude (Z)</a:t>
            </a:r>
            <a:br/>
            <a:r>
              <a:t>  - IMU (Acc + Gyro): Acceleration &amp; rates</a:t>
            </a:r>
            <a:br/>
            <a:r>
              <a:t>  - Magnetometer: Yaw heading orientation</a:t>
            </a:r>
            <a:br/>
            <a:br/>
            <a:r>
              <a:t>• Vulnerabilities:</a:t>
            </a:r>
            <a:br/>
            <a:r>
              <a:t>  Hardware suffers from GPS satellite multi-path shifts (+5m), laser reflectivity loss, and IMU temperature drift.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371600"/>
            <a:ext cx="356616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5087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6B6D4"/>
                </a:solidFill>
              </a:defRPr>
            </a:pPr>
            <a:r>
              <a:t>THE DUAL-FAULT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92024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Beyond Hardware Redundancy:</a:t>
            </a:r>
            <a:br/>
            <a:r>
              <a:t>  Traditional systems duplicate sensors but rely on a single central filter.</a:t>
            </a:r>
            <a:br/>
            <a:br/>
            <a:r>
              <a:t>• Software Estimator Corruption:</a:t>
            </a:r>
            <a:br/>
            <a:r>
              <a:t>  Internal numerical errors, overflow, or covariance collapse (P_ii &lt; 0) cause the filter to diverge even when physical sensors are 100% healthy!</a:t>
            </a:r>
            <a:br/>
            <a:br/>
            <a:r>
              <a:t>• Objective:</a:t>
            </a:r>
            <a:br/>
            <a:r>
              <a:t>  A dual-fault tolerant architecture surviving physical outages AND software bugs.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02 /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Problem Statement: Sensor Hardware Outages vs Software Bugs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6B6D4"/>
                </a:solidFill>
              </a:defRPr>
            </a:pPr>
            <a:r>
              <a:t>PHYSICAL SENSOR HARDWARE FAILURES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GPS Additive Jumps (+5.0m Offset):</a:t>
            </a:r>
            <a:br/>
            <a:r>
              <a:t>  Instantaneous position shift causes the controller to command excessive tilt, leading to high-speed drift and collisions.</a:t>
            </a:r>
            <a:br/>
            <a:br/>
            <a:r>
              <a:t>• Lidar Ground Reflection Dropout (-1.0m Bias):</a:t>
            </a:r>
            <a:br/>
            <a:r>
              <a:t>  Laser sensor bias induces altitude underestimation, forcing the drone to drop altitude and crash into the ground.</a:t>
            </a:r>
            <a:br/>
            <a:br/>
            <a:r>
              <a:t>• Accelerometer / Gyro Noise:</a:t>
            </a:r>
            <a:br/>
            <a:r>
              <a:t>  Motor vibrations inject severe noise, corrupting state propagation.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6B6D4"/>
                </a:solidFill>
              </a:defRPr>
            </a:pPr>
            <a:r>
              <a:t>THE HIDDEN THREAT: SOFTWARE ESTIMATOR COLLAPSE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Covariance Matrix Non-Positive Definiteness:</a:t>
            </a:r>
            <a:br/>
            <a:r>
              <a:t>  In embedded code, numerical truncation can cause diagonal covariance elements to become negative (e.g. P_z = -0.1 or P_xy = -0.01).</a:t>
            </a:r>
            <a:br/>
            <a:br/>
            <a:r>
              <a:t>• Blindness of Standard Hardware Voters:</a:t>
            </a:r>
            <a:br/>
            <a:r>
              <a:t>  Because physical sensors (GPS1 &amp; GPS2) agree, hardware-only voting concludes 'Everything is Nominal' while the software estimator diverges to infinity!</a:t>
            </a:r>
            <a:br/>
            <a:br/>
            <a:r>
              <a:t>• Environmental Disturbance Overlap:</a:t>
            </a:r>
            <a:br/>
            <a:r>
              <a:t>  Dynamic wind turbulence (4.0–6.5 m/s) and rain drag mask fault signatures.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03 /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Project Objectives &amp; Key Technical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6B6D4"/>
                </a:solidFill>
              </a:defRPr>
            </a:pPr>
            <a:r>
              <a:t>RESEARCH &amp; ALGORITHMIC GOALS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1. Complete Paper Replication (Hamadi et al., 2022):</a:t>
            </a:r>
            <a:br/>
            <a:r>
              <a:t>   Recreate all 12 experimental validation figures (Figs. 4, 6, 10, 16–24) with mathematical exactness.</a:t>
            </a:r>
            <a:br/>
            <a:br/>
            <a:r>
              <a:t>2. Multi-Branch Parallel Estimation Architecture:</a:t>
            </a:r>
            <a:br/>
            <a:r>
              <a:t>   Design 4 Sensor Blocks, Dual EKF estimators (KF1 &amp; KF2), and an Analytical Dynamic Model (DM).</a:t>
            </a:r>
            <a:br/>
            <a:br/>
            <a:r>
              <a:t>3. Weighted Average Voting Consensus:</a:t>
            </a:r>
            <a:br/>
            <a:r>
              <a:t>   Formulate dynamic agreement-weighted fusion (Eqs. 22–24) to eliminate single-estimator failure.</a:t>
            </a:r>
            <a:br/>
            <a:br/>
            <a:r>
              <a:t>4. Software vs Hardware FDI Engine:</a:t>
            </a:r>
            <a:br/>
            <a:r>
              <a:t>   Develop discrimination logic to detect negative covariance (min(diag(P)) &lt; 0) and physical sensor biases.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6B6D4"/>
                </a:solidFill>
              </a:defRPr>
            </a:pPr>
            <a:r>
              <a:t>SIMULATION &amp; ENGINEERING GOALS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5. High-Fidelity 3D Physics Simulation (MuJoCo):</a:t>
            </a:r>
            <a:br/>
            <a:r>
              <a:t>   Build a real-world airfield (60m runway, helipad, hangars, control tower, wind gusts, and 3D animated rain).</a:t>
            </a:r>
            <a:br/>
            <a:br/>
            <a:r>
              <a:t>6. Active Autonomous Flight Control:</a:t>
            </a:r>
            <a:br/>
            <a:r>
              <a:t>   Cascaded PD position-attitude controller with the Tarot 650 X-Mixer matrix to fly rightwards down the runway and complete airfield circuits.</a:t>
            </a:r>
            <a:br/>
            <a:br/>
            <a:r>
              <a:t>7. Real-Time HUD Telemetry &amp; Diagnostics:</a:t>
            </a:r>
            <a:br/>
            <a:r>
              <a:t>   Corner diagnostic cards displaying live sensor residuals and software health without obscuring the drone.</a:t>
            </a:r>
            <a:br/>
            <a:br/>
            <a:r>
              <a:t>8. Clean 2-File Modular Architecture:</a:t>
            </a:r>
            <a:br/>
            <a:r>
              <a:t>   Consolidate codebase into simulation_3d.py and drone_core.py.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04 / FULL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Full Pipeline: End-to-End Multi-Layer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920240" cy="105156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417320"/>
            <a:ext cx="177393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</a:defRPr>
            </a:pPr>
            <a:r>
              <a:t>SENSOR BLOCKS 1 &amp; 2</a:t>
            </a:r>
          </a:p>
          <a:p>
            <a:pPr algn="ctr"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IMU1, GPS1, Lidar1, Mag1</a:t>
            </a:r>
            <a:br/>
            <a:r>
              <a:t>[Physical Branch 1]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920240" cy="105156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606040"/>
            <a:ext cx="177393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</a:defRPr>
            </a:pPr>
            <a:r>
              <a:t>SENSOR BLOCKS 3 &amp; 4</a:t>
            </a:r>
          </a:p>
          <a:p>
            <a:pPr algn="ctr"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IMU2, GPS2, Lidar2, Mag2</a:t>
            </a:r>
            <a:br/>
            <a:r>
              <a:t>[Physical Branch 2]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1920240" cy="105156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794759"/>
            <a:ext cx="177393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</a:defRPr>
            </a:pPr>
            <a:r>
              <a:t>ESC MOTOR FEEDBACK</a:t>
            </a:r>
          </a:p>
          <a:p>
            <a:pPr algn="ctr"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PWM Commands &amp; Voltages</a:t>
            </a:r>
            <a:br/>
            <a:r>
              <a:t>[Analytical Input]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724912" y="1783080"/>
            <a:ext cx="256032" cy="18288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2724912" y="2971800"/>
            <a:ext cx="256032" cy="18288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2724912" y="4160520"/>
            <a:ext cx="256032" cy="18288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20" y="1371600"/>
            <a:ext cx="2103120" cy="1051560"/>
          </a:xfrm>
          <a:prstGeom prst="roundRect">
            <a:avLst/>
          </a:prstGeom>
          <a:solidFill>
            <a:srgbClr val="312E81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90672" y="1417320"/>
            <a:ext cx="19568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</a:defRPr>
            </a:pPr>
            <a:r>
              <a:t>BRANCH B1 (PRIMARY EKF)</a:t>
            </a:r>
          </a:p>
          <a:p>
            <a:pPr algn="ctr"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9-State Extended Kalman Filter</a:t>
            </a:r>
            <a:br/>
            <a:r>
              <a:t>[Joseph-Form Updates]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2560320"/>
            <a:ext cx="2103120" cy="1051560"/>
          </a:xfrm>
          <a:prstGeom prst="roundRect">
            <a:avLst/>
          </a:prstGeom>
          <a:solidFill>
            <a:srgbClr val="312E81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90672" y="2606040"/>
            <a:ext cx="19568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</a:defRPr>
            </a:pPr>
            <a:r>
              <a:t>BRANCH B2 (REDUNDANT EKF)</a:t>
            </a:r>
          </a:p>
          <a:p>
            <a:pPr algn="ctr"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9-State Extended Kalman Filter</a:t>
            </a:r>
            <a:br/>
            <a:r>
              <a:t>[Independent Process/Meas]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3749039"/>
            <a:ext cx="2103120" cy="1051560"/>
          </a:xfrm>
          <a:prstGeom prst="roundRect">
            <a:avLst/>
          </a:prstGeom>
          <a:solidFill>
            <a:srgbClr val="312E81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0672" y="3794759"/>
            <a:ext cx="19568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</a:defRPr>
            </a:pPr>
            <a:r>
              <a:t>BRANCH B3 (DYNAMIC MODEL)</a:t>
            </a:r>
          </a:p>
          <a:p>
            <a:pPr algn="ctr"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RK4 Quadrotor Newton-Euler</a:t>
            </a:r>
            <a:br/>
            <a:r>
              <a:t>[0% Sensor Dependence]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193792" y="1783080"/>
            <a:ext cx="256032" cy="18288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5193792" y="2971800"/>
            <a:ext cx="256032" cy="18288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5193792" y="4160520"/>
            <a:ext cx="256032" cy="18288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0" y="1371600"/>
            <a:ext cx="2103120" cy="3429000"/>
          </a:xfrm>
          <a:prstGeom prst="roundRect">
            <a:avLst/>
          </a:prstGeom>
          <a:solidFill>
            <a:srgbClr val="134E4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59552" y="1417320"/>
            <a:ext cx="1956816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</a:defRPr>
            </a:pPr>
            <a:r>
              <a:t>WEIGHTED AVERAGE VOTER</a:t>
            </a:r>
          </a:p>
          <a:p>
            <a:pPr algn="ctr"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Pairwise Distance d_ij</a:t>
            </a:r>
            <a:br/>
            <a:r>
              <a:t>Agreement s_ij = 1/(1+(d/a)^n)</a:t>
            </a:r>
            <a:br/>
            <a:r>
              <a:t>Dynamic Weights w_i</a:t>
            </a:r>
            <a:br/>
            <a:r>
              <a:t>Consensus y_voted = ∑ w_i y_i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662672" y="2971800"/>
            <a:ext cx="256032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55279" y="1371600"/>
            <a:ext cx="1920240" cy="3429000"/>
          </a:xfrm>
          <a:prstGeom prst="roundRect">
            <a:avLst/>
          </a:prstGeom>
          <a:solidFill>
            <a:srgbClr val="43140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28431" y="1417320"/>
            <a:ext cx="1773936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</a:defRPr>
            </a:pPr>
            <a:r>
              <a:t>FDI &amp; FAULT RECOVERY</a:t>
            </a:r>
          </a:p>
          <a:p>
            <a:pPr algn="ctr"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Physical Residuals:</a:t>
            </a:r>
            <a:br/>
            <a:r>
              <a:t>ΔGPS, ΔLidar, ΔIMU</a:t>
            </a:r>
            <a:br/>
            <a:r>
              <a:t>Software Covariance Monitor:</a:t>
            </a:r>
            <a:br/>
            <a:r>
              <a:t>min(diag(P)) &lt; 0</a:t>
            </a:r>
            <a:br/>
            <a:r>
              <a:t>Recovery Solution 3:</a:t>
            </a:r>
            <a:br/>
            <a:r>
              <a:t>KF3 = avg(KF2, DM)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948672" y="2971800"/>
            <a:ext cx="256032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241280" y="1371600"/>
            <a:ext cx="1645920" cy="34290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14432" y="1417320"/>
            <a:ext cx="1499616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</a:defRPr>
            </a:pPr>
            <a:r>
              <a:t>CONTROL &amp; PLANT</a:t>
            </a:r>
          </a:p>
          <a:p>
            <a:pPr algn="ctr"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Cascaded PD Controller</a:t>
            </a:r>
            <a:br/>
            <a:r>
              <a:t>Tarot 650 X-Mixer Matrix</a:t>
            </a:r>
            <a:br/>
            <a:r>
              <a:t>4 BLDC Motor Forces</a:t>
            </a:r>
            <a:br/>
            <a:r>
              <a:t>MuJoCo 3D Airfield</a:t>
            </a:r>
            <a:br/>
            <a:r>
              <a:t>Dynamic Wind &amp; Rain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983480"/>
            <a:ext cx="11155680" cy="1234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1206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6B6D4"/>
                </a:solidFill>
              </a:defRPr>
            </a:pPr>
            <a:r>
              <a:t>PIPELINE HIGHLIGHTS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34924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• Full Closed-Loop Resilience: State estimation dynamically switches between healthy physical EKF and analytical model branches.</a:t>
            </a:r>
            <a:br/>
            <a:r>
              <a:t>• Dual-Fault Protection: Detects physical sensor hardware biases AND internal estimation software bugs with 0.02s response latency.</a:t>
            </a:r>
            <a:br/>
            <a:r>
              <a:t>• Autonomous Runway Flight: Autopilot maintains stable trajectory down the 60m runway under turbulent aerodynamic drag forces.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05 / METHODOLOGY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Full Methodology: Mathematical Models, EKF &amp; FDI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237744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417320"/>
            <a:ext cx="323697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</a:defRPr>
            </a:pPr>
            <a:r>
              <a:t>1. MOTOR POLYNOMIALS (Eqs. 9 &amp; 10)</a:t>
            </a:r>
          </a:p>
          <a:p>
            <a:pPr algn="ctr"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f_i = -1.4736 u³ + 11.0691 u² - 16.7074 u + 7.3007 [N]</a:t>
            </a:r>
            <a:br/>
            <a:r>
              <a:t>τ_i = -0.0905 u³ + 0.4771 u² - 0.6790 u + 0.3045 [N·m]</a:t>
            </a:r>
            <a:br/>
            <a:r>
              <a:t>Normalised Input: u = PWM / 1000 ∈ [1.0, 2.0]</a:t>
            </a:r>
            <a:br/>
            <a:r>
              <a:t>Hover: PWM 1500–1600 (4.25 N/motor, 17 N total)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86200"/>
            <a:ext cx="3383280" cy="237744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3931920"/>
            <a:ext cx="323697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</a:defRPr>
            </a:pPr>
            <a:r>
              <a:t>2. ANALYTICAL DYNAMIC MODEL (RK4)</a:t>
            </a:r>
          </a:p>
          <a:p>
            <a:pPr algn="ctr"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m ẍ = R [0, 0, ∑ f_i]^T - [0, 0, mg]^T + F_drag(v_rel)</a:t>
            </a:r>
            <a:br/>
            <a:r>
              <a:t>I ω̇ = τ_moments - ω × (I ω)</a:t>
            </a:r>
            <a:br/>
            <a:r>
              <a:t>Drag: F_drag = 0.5 ρ C_d A ||v_rel|| v_rel</a:t>
            </a:r>
            <a:br/>
            <a:r>
              <a:t>Integrated via 4th-Order Runge-Kutta at 200 Hz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657600" cy="2377440"/>
          </a:xfrm>
          <a:prstGeom prst="roundRect">
            <a:avLst/>
          </a:prstGeom>
          <a:solidFill>
            <a:srgbClr val="312E81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1417320"/>
            <a:ext cx="351129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</a:defRPr>
            </a:pPr>
            <a:r>
              <a:t>3. EKF ESTIMATION WITH JOSEPH UPDATES</a:t>
            </a:r>
          </a:p>
          <a:p>
            <a:pPr algn="ctr"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9-State Vector: x = [x, y, z, v_x, v_y, v_z, ϕ, θ, ψ]^T</a:t>
            </a:r>
            <a:br/>
            <a:r>
              <a:t>Prediction: x_{k|k-1} = f(x_{k-1}, a_IMU),  P_{k|k-1} = F P F^T + Q</a:t>
            </a:r>
            <a:br/>
            <a:r>
              <a:t>Joseph Update: P_k = (I - KH) P_{k|k-1} (I - KH)^T + K R K^T</a:t>
            </a:r>
            <a:br/>
            <a:r>
              <a:t>Guarantees numerical symmetry and positive semi-definiteness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886200"/>
            <a:ext cx="3657600" cy="2377440"/>
          </a:xfrm>
          <a:prstGeom prst="roundRect">
            <a:avLst/>
          </a:prstGeom>
          <a:solidFill>
            <a:srgbClr val="134E4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3931920"/>
            <a:ext cx="351129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</a:defRPr>
            </a:pPr>
            <a:r>
              <a:t>4. WEIGHTED AVERAGE VOTING CONSENSUS</a:t>
            </a:r>
          </a:p>
          <a:p>
            <a:pPr algn="ctr"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Agreement: s_ij = 1 / (1 + (d_ij / a)^n)</a:t>
            </a:r>
            <a:br/>
            <a:r>
              <a:t>Parameters: a_xy = 0.5m, n_xy = 6 | a_z = 0.5m, n_z = 2</a:t>
            </a:r>
            <a:br/>
            <a:r>
              <a:t>Weights: w_i = (∑_{j≠i} s_ij) / (∑_k ∑_{j≠k} s_kj)</a:t>
            </a:r>
            <a:br/>
            <a:r>
              <a:t>Consensus Output: y_voted = w_1 y_1 + w_2 y_2 + w_3 y_3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291840" cy="4892040"/>
          </a:xfrm>
          <a:prstGeom prst="roundRect">
            <a:avLst/>
          </a:prstGeom>
          <a:solidFill>
            <a:srgbClr val="43140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417320"/>
            <a:ext cx="3145536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</a:defRPr>
            </a:pPr>
            <a:r>
              <a:t>5. FDI DISCRIMINATOR &amp; RECOVERY</a:t>
            </a:r>
          </a:p>
          <a:p>
            <a:pPr algn="ctr"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Fault Thresholds (Table 2):</a:t>
            </a:r>
            <a:br/>
            <a:r>
              <a:t>• ΔGPS &gt; 2.0m ==&gt; GPS Hardware Fault</a:t>
            </a:r>
            <a:br/>
            <a:r>
              <a:t>• ΔLidar &gt; 1.0m ==&gt; Lidar Hardware Fault</a:t>
            </a:r>
            <a:br/>
            <a:r>
              <a:t>• ΔIMU &gt; 0.05 m/s² ==&gt; IMU Fault</a:t>
            </a:r>
            <a:br/>
            <a:br/>
            <a:r>
              <a:t>Software Covariance Bug Check:</a:t>
            </a:r>
            <a:br/>
            <a:r>
              <a:t>• min(diag(P_KF1)) &lt; 0 ==&gt; Software Corruption!</a:t>
            </a:r>
            <a:br/>
            <a:br/>
            <a:r>
              <a:t>3 Recovery Solutions (Section 5.4):</a:t>
            </a:r>
            <a:br/>
            <a:r>
              <a:t>• Sol 1: Sensor Substitution (reroute healthy sensor)</a:t>
            </a:r>
            <a:br/>
            <a:r>
              <a:t>• Sol 2: State Re-initialization (x_KF1 = x_voter)</a:t>
            </a:r>
            <a:br/>
            <a:r>
              <a:t>• Sol 3: Analytical Failover (KF3 = avg(KF2, DM))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06 / MULTI-PLATFORM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Simulation Part (Part 1: Three Multi-Platform Simulators - MuJoCo, Gazebo &amp; WebGL)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6B6D4"/>
                </a:solidFill>
              </a:defRPr>
            </a:pPr>
            <a:r>
              <a:t>1. MUJOCO 3D SIMULATOR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• DeepMind Physics Engine:</a:t>
            </a:r>
            <a:br/>
            <a:r>
              <a:t>  - Native C++ multi-contact dynamics, 200 Hz integration rate.</a:t>
            </a:r>
            <a:br/>
            <a:r>
              <a:t>  - Tarot 650 XML model (tarot650_3d.xml) with exact mass (1.70 kg) &amp; inertia tensor.</a:t>
            </a:r>
            <a:br/>
            <a:br/>
            <a:r>
              <a:t>• Real-World Airfield Environment:</a:t>
            </a:r>
            <a:br/>
            <a:r>
              <a:t>  - 60m asphalt runway, helipad, ATC control tower, hangars.</a:t>
            </a:r>
            <a:br/>
            <a:r>
              <a:t>  - Dynamic wind gusts (4.0–6.5 m/s) with sinusoidal surges.</a:t>
            </a:r>
            <a:br/>
            <a:r>
              <a:t>  - 3D animated falling rain particle streaks.</a:t>
            </a:r>
            <a:br/>
            <a:br/>
            <a:r>
              <a:t>• Launch: python simulation_3d.py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08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6B6D4"/>
                </a:solidFill>
              </a:defRPr>
            </a:pPr>
            <a:r>
              <a:t>2. GAZEBO ROBOTICS WORLD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• ROS &amp; Autonomous Drone Standard:</a:t>
            </a:r>
            <a:br/>
            <a:r>
              <a:t>  - High-fidelity SDF 1.6 &amp; URDF models for Tarot 650 (gazebo/models/tarot650/).</a:t>
            </a:r>
            <a:br/>
            <a:r>
              <a:t>  - Dual GPS, Dual IMU, Dual Lidar sensor plugins matching Table 2 specifications.</a:t>
            </a:r>
            <a:br/>
            <a:br/>
            <a:r>
              <a:t>• Airfield World (tarot650_airfield.world):</a:t>
            </a:r>
            <a:br/>
            <a:r>
              <a:t>  - Full ODE/Dart physics solver, wind plugin, helipad touchdown zone.</a:t>
            </a:r>
            <a:br/>
            <a:r>
              <a:t>  - Gazebo flight coordinator bridge (gazebo/simulation_gazebo.py).</a:t>
            </a:r>
            <a:br/>
            <a:br/>
            <a:r>
              <a:t>• Launch: python gazebo/simulation_gazebo.py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508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6B6D4"/>
                </a:solidFill>
              </a:defRPr>
            </a:pPr>
            <a:r>
              <a:t>3. FLIGHTTWIN 3D &amp; PYGAME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9202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• Universal Interactive WebGL Twin:</a:t>
            </a:r>
            <a:br/>
            <a:r>
              <a:t>  - Zero-install 3D simulator (simulation_webgl.html) running in any web browser at 60 FPS.</a:t>
            </a:r>
            <a:br/>
            <a:r>
              <a:t>  - Interactive 1-click on-screen buttons to inject GPS/Lidar/Software faults in real time.</a:t>
            </a:r>
            <a:br/>
            <a:r>
              <a:t>  - Live agreement progress bars (s_ij) &amp; voter weights.</a:t>
            </a:r>
            <a:br/>
            <a:br/>
            <a:r>
              <a:t>• Pygame 3D Flight Simulator:</a:t>
            </a:r>
            <a:br/>
            <a:r>
              <a:t>  - Synthetic vision cockpit with artificial horizon and keyboard controls (simulation_pygame.py).</a:t>
            </a:r>
            <a:br/>
            <a:br/>
            <a:r>
              <a:t>• Launch: Double-click simulation_webgl.html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06 / 3D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Simulation Part (Part 2: 4 Failure Scenarios &amp; Paper Validation Plots)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6B6D4"/>
                </a:solidFill>
              </a:defRPr>
            </a:pPr>
            <a:r>
              <a:t>4 VALIDATION SCENARIOS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• Situation 1: GPS Fault (+5m):</a:t>
            </a:r>
            <a:br/>
            <a:r>
              <a:t>  Injected at t=7.0s. Detected in 0.02s. KF1 isolated, drone flies rightwards down runway safely.</a:t>
            </a:r>
            <a:br/>
            <a:br/>
            <a:r>
              <a:t>• Situation 2: Lidar Fault (-1m):</a:t>
            </a:r>
            <a:br/>
            <a:r>
              <a:t>  Injected at t=17.8s. Altitude held steady at 3.0m without dipping.</a:t>
            </a:r>
            <a:br/>
            <a:br/>
            <a:r>
              <a:t>• Situation 3: SW Alt Fault (P_z=-0.1):</a:t>
            </a:r>
            <a:br/>
            <a:r>
              <a:t>  Instant covariance check catches negative variance. KF1 disconnected, zero altitude loss.</a:t>
            </a:r>
            <a:br/>
            <a:br/>
            <a:r>
              <a:t>• Situation 4: SW Pos Fault (P_xy=-0.01):</a:t>
            </a:r>
            <a:br/>
            <a:r>
              <a:t>  Airfield circuit completed safely via KF3=avg(KF2,DM).</a:t>
            </a:r>
          </a:p>
        </p:txBody>
      </p:sp>
      <p:pic>
        <p:nvPicPr>
          <p:cNvPr id="9" name="Picture 8" descr="fig16_gps_fault_xy_pos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371600"/>
            <a:ext cx="3657600" cy="4846320"/>
          </a:xfrm>
          <a:prstGeom prst="rect">
            <a:avLst/>
          </a:prstGeom>
        </p:spPr>
      </p:pic>
      <p:pic>
        <p:nvPicPr>
          <p:cNvPr id="10" name="Picture 9" descr="fig23_software_altitude_fa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371600"/>
            <a:ext cx="32918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07 / FUTURE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Future Work &amp; Research Extensions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6B6D4"/>
                </a:solidFill>
              </a:defRPr>
            </a:pPr>
            <a:r>
              <a:t>HARDWARE-IN-THE-LOOP (HIL)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Pixhawk / PX4 Embedded Porting:</a:t>
            </a:r>
            <a:br/>
            <a:r>
              <a:t>  Port drone_core.py algorithms to C++ uORB modules on STM32 / Pixhawk 6X autopilot hardware.</a:t>
            </a:r>
            <a:br/>
            <a:br/>
            <a:r>
              <a:t>• Dual CAN-Bus Verification:</a:t>
            </a:r>
            <a:br/>
            <a:r>
              <a:t>  Benchmark real-time execution across redundant sensor buses at 200 Hz update rates.</a:t>
            </a:r>
            <a:br/>
            <a:br/>
            <a:r>
              <a:t>• Physical Outdoor Flight Tests:</a:t>
            </a:r>
            <a:br/>
            <a:r>
              <a:t>  Validate sensor fault recovery in outdoor airfield under natural atmospheric wind gusts.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29184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087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6B6D4"/>
                </a:solidFill>
              </a:defRPr>
            </a:pPr>
            <a:r>
              <a:t>AI &amp; NONLINEAR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Deep Learning Residual Prediction:</a:t>
            </a:r>
            <a:br/>
            <a:r>
              <a:t>  Implement LSTM / Transformer networks to predict sensor degradation before hard threshold crossings.</a:t>
            </a:r>
            <a:br/>
            <a:br/>
            <a:r>
              <a:t>• Nonlinear Model Predictive Control (NMPC):</a:t>
            </a:r>
            <a:br/>
            <a:r>
              <a:t>  Replace cascaded PD with adaptive NMPC to actively reject dynamic wind drag forces in real-time.</a:t>
            </a:r>
            <a:br/>
            <a:br/>
            <a:r>
              <a:t>• Rotor Failure Accommodation:</a:t>
            </a:r>
            <a:br/>
            <a:r>
              <a:t>  Extend mixer matrix to handle complete single-motor failure (hexacopter failover).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371600"/>
            <a:ext cx="356616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5087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6B6D4"/>
                </a:solidFill>
              </a:defRPr>
            </a:pPr>
            <a:r>
              <a:t>MULTI-UAV SWARM RESILIENCE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92024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Cooperative Swarm State Voting:</a:t>
            </a:r>
            <a:br/>
            <a:r>
              <a:t>  Extend weighted voter to inter-drone communication links for consensus localization in GPS-denied zones.</a:t>
            </a:r>
            <a:br/>
            <a:br/>
            <a:r>
              <a:t>• Peer-to-Peer Sensor Sharing:</a:t>
            </a:r>
            <a:br/>
            <a:r>
              <a:t>  Allow healthy drones in a formation to broadcast reference GPS/Lidar anchors to impaired drones.</a:t>
            </a:r>
            <a:br/>
            <a:br/>
            <a:r>
              <a:t>• Swarm Fault-Tolerance Standards:</a:t>
            </a:r>
            <a:br/>
            <a:r>
              <a:t>  Establish certifiable software fault detection protocols for commercial drone delivery fleets.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08 /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Conclusion &amp; Project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6B6D4"/>
                </a:solidFill>
              </a:defRPr>
            </a:pPr>
            <a:r>
              <a:t>SUMMARY OF ACHIEVEMENTS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✓ 100% Replication of Hamadi et al. (ISA Trans. 2022):</a:t>
            </a:r>
            <a:br/>
            <a:r>
              <a:t>  Faithfully reproduced all 12 validation figures, motor polynomials, and 4 failure scenarios.</a:t>
            </a:r>
            <a:br/>
            <a:br/>
            <a:r>
              <a:t>✓ Solved the Software Fault Vulnerability:</a:t>
            </a:r>
            <a:br/>
            <a:r>
              <a:t>  Designed an FDI engine capable of distinguishing physical sensor offsets from internal software covariance bugs (P_ii &lt; 0).</a:t>
            </a:r>
            <a:br/>
            <a:br/>
            <a:r>
              <a:t>✓ Sub-Second Fault Recovery (Solution 3):</a:t>
            </a:r>
            <a:br/>
            <a:r>
              <a:t>  Synthesizes KF3 = avg(KF2, DM) with zero navigation delay.</a:t>
            </a:r>
            <a:br/>
            <a:br/>
            <a:r>
              <a:t>✓ High-Fidelity 3D Simulation with Wind &amp; Rain:</a:t>
            </a:r>
            <a:br/>
            <a:r>
              <a:t>  Real-world airfield environment with active flight down runway and clean corner HUD diagnostics.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6B6D4"/>
                </a:solidFill>
              </a:defRPr>
            </a:pPr>
            <a:r>
              <a:t>CLEAN 2-FILE ARCHITECTURE &amp; RUN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File 1: simulation_3d.py</a:t>
            </a:r>
            <a:br/>
            <a:r>
              <a:t>  Unified 3D real-world flight simulation, weather physics, and interactive viewer.</a:t>
            </a:r>
            <a:br/>
            <a:br/>
            <a:r>
              <a:t>• File 2: drone_core.py</a:t>
            </a:r>
            <a:br/>
            <a:r>
              <a:t>  All core algorithms, state estimators, voters, controller, and paper figure generators.</a:t>
            </a:r>
            <a:br/>
            <a:br/>
            <a:r>
              <a:t>• Execution Commands:</a:t>
            </a:r>
            <a:br/>
            <a:r>
              <a:t>  python simulation_3d.py --situation 1   # Run 3D Flight</a:t>
            </a:r>
            <a:br/>
            <a:r>
              <a:t>  python drone_core.py --plots           # Generate Paper Plots</a:t>
            </a:r>
            <a:br/>
            <a:br/>
            <a:r>
              <a:t>• Presentation File: Tarot650_Fault_Tolerant_UAV_Presentation.pptx</a:t>
            </a:r>
            <a:br/>
            <a:r>
              <a:t>  Ready for direct Canva import and high-impact presentation!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